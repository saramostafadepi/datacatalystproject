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72" r:id="rId3"/>
    <p:sldId id="273" r:id="rId4"/>
    <p:sldId id="282" r:id="rId5"/>
    <p:sldId id="283" r:id="rId6"/>
    <p:sldId id="276" r:id="rId7"/>
    <p:sldId id="277" r:id="rId8"/>
    <p:sldId id="278" r:id="rId9"/>
    <p:sldId id="279" r:id="rId10"/>
    <p:sldId id="280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457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232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EEB9-FD88-1394-4FA8-2F191A5D9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3722" y="1306844"/>
            <a:ext cx="8090518" cy="1907406"/>
          </a:xfrm>
        </p:spPr>
        <p:txBody>
          <a:bodyPr/>
          <a:lstStyle/>
          <a:p>
            <a:r>
              <a:rPr lang="en-US" dirty="0"/>
              <a:t> Egypt’s Digital Sun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1ABE9-C18E-49CC-A90F-EBB888436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1884" y="3573370"/>
            <a:ext cx="10291916" cy="2064740"/>
          </a:xfrm>
        </p:spPr>
        <p:txBody>
          <a:bodyPr/>
          <a:lstStyle/>
          <a:p>
            <a:r>
              <a:rPr lang="en-US" dirty="0"/>
              <a:t>Presented By | </a:t>
            </a:r>
            <a:r>
              <a:rPr lang="en-US" dirty="0" err="1"/>
              <a:t>DataCatalyst</a:t>
            </a:r>
            <a:r>
              <a:rPr lang="en-US" dirty="0"/>
              <a:t> Team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3A79C-12B1-A596-DAEF-4567DC9CBC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 descr="A logo with colorful graphics and text&#10;&#10;AI-generated content may be incorrect.">
            <a:extLst>
              <a:ext uri="{FF2B5EF4-FFF2-40B4-BE49-F238E27FC236}">
                <a16:creationId xmlns:a16="http://schemas.microsoft.com/office/drawing/2014/main" id="{820758E9-DB20-55EF-3395-64FC61200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233" y="559931"/>
            <a:ext cx="2258552" cy="2123840"/>
          </a:xfrm>
          <a:prstGeom prst="rect">
            <a:avLst/>
          </a:prstGeom>
        </p:spPr>
      </p:pic>
      <p:pic>
        <p:nvPicPr>
          <p:cNvPr id="9" name="Graphic 8" descr="Social network with solid fill">
            <a:extLst>
              <a:ext uri="{FF2B5EF4-FFF2-40B4-BE49-F238E27FC236}">
                <a16:creationId xmlns:a16="http://schemas.microsoft.com/office/drawing/2014/main" id="{C484035B-BC5C-D292-3A64-1A17B335A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2039" y="3533110"/>
            <a:ext cx="717232" cy="71723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9C13D2C-44BD-18A5-E8B3-3728A2D63524}"/>
              </a:ext>
            </a:extLst>
          </p:cNvPr>
          <p:cNvGrpSpPr/>
          <p:nvPr/>
        </p:nvGrpSpPr>
        <p:grpSpPr>
          <a:xfrm>
            <a:off x="1095037" y="4434971"/>
            <a:ext cx="10258763" cy="915681"/>
            <a:chOff x="1095037" y="3700564"/>
            <a:chExt cx="10258763" cy="915681"/>
          </a:xfrm>
        </p:grpSpPr>
        <p:sp>
          <p:nvSpPr>
            <p:cNvPr id="12" name="Rectangle: Diagonal Corners Rounded 11">
              <a:extLst>
                <a:ext uri="{FF2B5EF4-FFF2-40B4-BE49-F238E27FC236}">
                  <a16:creationId xmlns:a16="http://schemas.microsoft.com/office/drawing/2014/main" id="{B2FD5420-9728-F5D4-C386-2C04A0246203}"/>
                </a:ext>
              </a:extLst>
            </p:cNvPr>
            <p:cNvSpPr/>
            <p:nvPr/>
          </p:nvSpPr>
          <p:spPr>
            <a:xfrm>
              <a:off x="1095037" y="3700564"/>
              <a:ext cx="1507689" cy="914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Amr Magdy	</a:t>
              </a:r>
            </a:p>
          </p:txBody>
        </p:sp>
        <p:sp>
          <p:nvSpPr>
            <p:cNvPr id="13" name="Rectangle: Diagonal Corners Rounded 12">
              <a:extLst>
                <a:ext uri="{FF2B5EF4-FFF2-40B4-BE49-F238E27FC236}">
                  <a16:creationId xmlns:a16="http://schemas.microsoft.com/office/drawing/2014/main" id="{9A8205FD-DF5B-526D-1E94-B6089ABA6E77}"/>
                </a:ext>
              </a:extLst>
            </p:cNvPr>
            <p:cNvSpPr/>
            <p:nvPr/>
          </p:nvSpPr>
          <p:spPr>
            <a:xfrm>
              <a:off x="2900630" y="3700564"/>
              <a:ext cx="1507689" cy="914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Heba Shaaban</a:t>
              </a:r>
            </a:p>
          </p:txBody>
        </p:sp>
        <p:sp>
          <p:nvSpPr>
            <p:cNvPr id="14" name="Rectangle: Diagonal Corners Rounded 13">
              <a:extLst>
                <a:ext uri="{FF2B5EF4-FFF2-40B4-BE49-F238E27FC236}">
                  <a16:creationId xmlns:a16="http://schemas.microsoft.com/office/drawing/2014/main" id="{1BF94465-BB57-89A9-A41F-015FF9B58F7C}"/>
                </a:ext>
              </a:extLst>
            </p:cNvPr>
            <p:cNvSpPr/>
            <p:nvPr/>
          </p:nvSpPr>
          <p:spPr>
            <a:xfrm>
              <a:off x="4649203" y="3700564"/>
              <a:ext cx="1507689" cy="914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Sara Mostafa</a:t>
              </a:r>
            </a:p>
          </p:txBody>
        </p:sp>
        <p:sp>
          <p:nvSpPr>
            <p:cNvPr id="15" name="Rectangle: Diagonal Corners Rounded 14">
              <a:extLst>
                <a:ext uri="{FF2B5EF4-FFF2-40B4-BE49-F238E27FC236}">
                  <a16:creationId xmlns:a16="http://schemas.microsoft.com/office/drawing/2014/main" id="{07503F79-2D56-471F-AC6D-7A9A8C17C60E}"/>
                </a:ext>
              </a:extLst>
            </p:cNvPr>
            <p:cNvSpPr/>
            <p:nvPr/>
          </p:nvSpPr>
          <p:spPr>
            <a:xfrm>
              <a:off x="6397776" y="3700564"/>
              <a:ext cx="1507689" cy="914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Samar Maher</a:t>
              </a:r>
            </a:p>
          </p:txBody>
        </p:sp>
        <p:sp>
          <p:nvSpPr>
            <p:cNvPr id="16" name="Rectangle: Diagonal Corners Rounded 15">
              <a:extLst>
                <a:ext uri="{FF2B5EF4-FFF2-40B4-BE49-F238E27FC236}">
                  <a16:creationId xmlns:a16="http://schemas.microsoft.com/office/drawing/2014/main" id="{7DF8C788-F5F8-C91D-4FA9-70E6B009EA41}"/>
                </a:ext>
              </a:extLst>
            </p:cNvPr>
            <p:cNvSpPr/>
            <p:nvPr/>
          </p:nvSpPr>
          <p:spPr>
            <a:xfrm>
              <a:off x="8146349" y="3700564"/>
              <a:ext cx="1507689" cy="914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Mennatallah</a:t>
              </a:r>
              <a:r>
                <a:rPr lang="en-US" dirty="0"/>
                <a:t> Sherif</a:t>
              </a:r>
            </a:p>
          </p:txBody>
        </p:sp>
        <p:sp>
          <p:nvSpPr>
            <p:cNvPr id="17" name="Rectangle: Diagonal Corners Rounded 16">
              <a:extLst>
                <a:ext uri="{FF2B5EF4-FFF2-40B4-BE49-F238E27FC236}">
                  <a16:creationId xmlns:a16="http://schemas.microsoft.com/office/drawing/2014/main" id="{9ACF1C46-7DA1-0884-7E70-7A642B0A525E}"/>
                </a:ext>
              </a:extLst>
            </p:cNvPr>
            <p:cNvSpPr/>
            <p:nvPr/>
          </p:nvSpPr>
          <p:spPr>
            <a:xfrm>
              <a:off x="9846111" y="3701845"/>
              <a:ext cx="1507689" cy="914400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Mohamed </a:t>
              </a:r>
              <a:r>
                <a:rPr lang="en-US" dirty="0" err="1"/>
                <a:t>Abdelwahab</a:t>
              </a:r>
              <a:endParaRPr lang="en-US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E87311C-C623-442E-7966-2FFA3A5A1DD2}"/>
              </a:ext>
            </a:extLst>
          </p:cNvPr>
          <p:cNvSpPr txBox="1"/>
          <p:nvPr/>
        </p:nvSpPr>
        <p:spPr>
          <a:xfrm>
            <a:off x="758687" y="6385023"/>
            <a:ext cx="2710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May, 2026</a:t>
            </a:r>
          </a:p>
        </p:txBody>
      </p:sp>
    </p:spTree>
    <p:extLst>
      <p:ext uri="{BB962C8B-B14F-4D97-AF65-F5344CB8AC3E}">
        <p14:creationId xmlns:p14="http://schemas.microsoft.com/office/powerpoint/2010/main" val="86312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1A9D-967D-5B4D-CC12-70309996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Idea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8E437-D85B-EBDA-C78F-1D7D4E903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490870"/>
            <a:ext cx="10780643" cy="486548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Problem Statement</a:t>
            </a:r>
          </a:p>
          <a:p>
            <a:pPr marL="114300" indent="0" algn="just">
              <a:buNone/>
            </a:pPr>
            <a:r>
              <a:rPr lang="en-US" dirty="0"/>
              <a:t>Egypt has high solar energy potential, but analyzing environmental and weather data to identify the best locations for solar energy projects remains a challenge.</a:t>
            </a:r>
          </a:p>
          <a:p>
            <a:pPr algn="just"/>
            <a:r>
              <a:rPr lang="en-US" b="1" dirty="0"/>
              <a:t>Proposed Solution</a:t>
            </a:r>
          </a:p>
          <a:p>
            <a:pPr marL="114300" indent="0" algn="just">
              <a:buNone/>
            </a:pPr>
            <a:r>
              <a:rPr lang="en-US" dirty="0"/>
              <a:t>Egypt’s Digital Sun uses data analytics and interactive dashboards to transform solar and weather data into clear insights that support renewable energy planning and efficiency evaluation.</a:t>
            </a:r>
          </a:p>
          <a:p>
            <a:pPr algn="just"/>
            <a:r>
              <a:rPr lang="en-US" b="1" dirty="0"/>
              <a:t>Unique Value Proposition</a:t>
            </a:r>
          </a:p>
          <a:p>
            <a:pPr marL="114300" indent="0" algn="just">
              <a:buNone/>
            </a:pPr>
            <a:r>
              <a:rPr lang="en-US" dirty="0"/>
              <a:t> - Combines solar radiation and weather analysis in one platform. </a:t>
            </a:r>
          </a:p>
          <a:p>
            <a:pPr marL="114300" indent="0" algn="just">
              <a:buNone/>
            </a:pPr>
            <a:r>
              <a:rPr lang="en-US" dirty="0"/>
              <a:t> - Provides data-driven insights for smarter energy decisions. </a:t>
            </a:r>
          </a:p>
          <a:p>
            <a:pPr marL="114300" indent="0" algn="just">
              <a:buNone/>
            </a:pPr>
            <a:r>
              <a:rPr lang="en-US" dirty="0"/>
              <a:t> - Helps identify the most efficient regions for solar energy projects through interactive visual analytics.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8412F-95AE-B2CC-D930-7D41CAF8E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7" name="Graphic 6" descr="Lightbulb and gear with solid fill">
            <a:extLst>
              <a:ext uri="{FF2B5EF4-FFF2-40B4-BE49-F238E27FC236}">
                <a16:creationId xmlns:a16="http://schemas.microsoft.com/office/drawing/2014/main" id="{79A96D0D-6BA7-1E69-D405-9B3F64728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3409" y="5016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3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6192-06E5-7769-73B8-16A58EE3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Wireframe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2F291-4538-04EF-ECE3-118FD7A35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45590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Dashboard &amp; User Interface</a:t>
            </a:r>
          </a:p>
          <a:p>
            <a:pPr marL="114300" indent="0" algn="just">
              <a:buNone/>
            </a:pPr>
            <a:r>
              <a:rPr lang="en-US" dirty="0"/>
              <a:t>Interactive dashboard featuring solar radiation KPIs, seasonal charts, city comparisons, weather trend analysis, and dynamic filters by city, season, and year.</a:t>
            </a:r>
          </a:p>
          <a:p>
            <a:pPr algn="just"/>
            <a:r>
              <a:rPr lang="en-US" b="1" dirty="0"/>
              <a:t>User Journey</a:t>
            </a:r>
          </a:p>
          <a:p>
            <a:pPr marL="114300" indent="0" algn="just">
              <a:buNone/>
            </a:pPr>
            <a:r>
              <a:rPr lang="en-US" dirty="0"/>
              <a:t>Users explore the dashboard, apply filters, analyze solar and weather insights, compare efficiency trends, and support data-driven energy decisions.</a:t>
            </a:r>
          </a:p>
          <a:p>
            <a:pPr algn="just"/>
            <a:r>
              <a:rPr lang="en-US" b="1" dirty="0"/>
              <a:t>Usability &amp; User Experience</a:t>
            </a:r>
          </a:p>
          <a:p>
            <a:pPr marL="114300" indent="0" algn="just">
              <a:buNone/>
            </a:pPr>
            <a:r>
              <a:rPr lang="en-US" dirty="0"/>
              <a:t>Simple and user-friendly design with clear visualizations, interactive filtering, and easy-to-read charts for fast and effective analysis.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EC853-A02A-0AB4-8D38-7EF2B88533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Graphic 5" descr="Clipboard with solid fill">
            <a:extLst>
              <a:ext uri="{FF2B5EF4-FFF2-40B4-BE49-F238E27FC236}">
                <a16:creationId xmlns:a16="http://schemas.microsoft.com/office/drawing/2014/main" id="{4F72AD4A-336E-D2ED-21F1-56BBBADAF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7060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8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dirty="0"/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763" y="1677910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175" name="Google Shape;175;p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Pyramids in the desert with the sun behind them&#10;&#10;AI-generated content may be incorrect.">
            <a:extLst>
              <a:ext uri="{FF2B5EF4-FFF2-40B4-BE49-F238E27FC236}">
                <a16:creationId xmlns:a16="http://schemas.microsoft.com/office/drawing/2014/main" id="{CAA14E8F-AF94-B62E-7BB0-B6D2A2C7E6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83" r="12979"/>
          <a:stretch/>
        </p:blipFill>
        <p:spPr>
          <a:xfrm>
            <a:off x="671230" y="1759974"/>
            <a:ext cx="3747035" cy="29791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3087A7-8A56-5519-72AC-0F682F1A3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054267"/>
              </p:ext>
            </p:extLst>
          </p:nvPr>
        </p:nvGraphicFramePr>
        <p:xfrm>
          <a:off x="4748981" y="1285873"/>
          <a:ext cx="7177548" cy="4806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903">
                  <a:extLst>
                    <a:ext uri="{9D8B030D-6E8A-4147-A177-3AD203B41FA5}">
                      <a16:colId xmlns:a16="http://schemas.microsoft.com/office/drawing/2014/main" val="1425725955"/>
                    </a:ext>
                  </a:extLst>
                </a:gridCol>
                <a:gridCol w="2015613">
                  <a:extLst>
                    <a:ext uri="{9D8B030D-6E8A-4147-A177-3AD203B41FA5}">
                      <a16:colId xmlns:a16="http://schemas.microsoft.com/office/drawing/2014/main" val="2635621974"/>
                    </a:ext>
                  </a:extLst>
                </a:gridCol>
                <a:gridCol w="2753032">
                  <a:extLst>
                    <a:ext uri="{9D8B030D-6E8A-4147-A177-3AD203B41FA5}">
                      <a16:colId xmlns:a16="http://schemas.microsoft.com/office/drawing/2014/main" val="150686346"/>
                    </a:ext>
                  </a:extLst>
                </a:gridCol>
              </a:tblGrid>
              <a:tr h="600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/>
                        <a:t>End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Key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/>
                        <a:t>Value per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01725"/>
                  </a:ext>
                </a:extLst>
              </a:tr>
              <a:tr h="4072317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Government and energy policymakers.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Renewable energy companies.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endParaRPr lang="en-US" sz="18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Researchers and data analysts. 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Solar radiation analysis across Egyptian cities.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endParaRPr lang="en-US" sz="18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Seasonal and weather trend visualization.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endParaRPr lang="en-US" sz="18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City-based comparison tools.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Interactive filtering (city, season, year) 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Government:</a:t>
                      </a:r>
                      <a:r>
                        <a:rPr lang="en-US" sz="1800" dirty="0"/>
                        <a:t> supports strategic planning for solar projects.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endParaRPr lang="en-US" sz="18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Companies:</a:t>
                      </a:r>
                      <a:r>
                        <a:rPr lang="en-US" sz="1800" dirty="0"/>
                        <a:t> identifies most efficient investment locations.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Researchers:</a:t>
                      </a:r>
                      <a:r>
                        <a:rPr lang="en-US" sz="1800" dirty="0"/>
                        <a:t> enables data-driven environmental analysis 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823021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AF906BA-C4C1-AF33-3805-A20224E573FA}"/>
              </a:ext>
            </a:extLst>
          </p:cNvPr>
          <p:cNvSpPr txBox="1">
            <a:spLocks/>
          </p:cNvSpPr>
          <p:nvPr/>
        </p:nvSpPr>
        <p:spPr>
          <a:xfrm>
            <a:off x="838200" y="408663"/>
            <a:ext cx="10515600" cy="836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End Users + Features</a:t>
            </a:r>
          </a:p>
        </p:txBody>
      </p:sp>
      <p:pic>
        <p:nvPicPr>
          <p:cNvPr id="8" name="Graphic 7" descr="Ribbon with solid fill">
            <a:extLst>
              <a:ext uri="{FF2B5EF4-FFF2-40B4-BE49-F238E27FC236}">
                <a16:creationId xmlns:a16="http://schemas.microsoft.com/office/drawing/2014/main" id="{3C414D07-01A0-665B-BB82-BEC134F89C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9714" y="477377"/>
            <a:ext cx="655999" cy="65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9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dirty="0"/>
          </a:p>
        </p:txBody>
      </p:sp>
      <p:sp>
        <p:nvSpPr>
          <p:cNvPr id="181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May, 2026</a:t>
            </a:r>
            <a:endParaRPr dirty="0"/>
          </a:p>
        </p:txBody>
      </p:sp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35" y="1813915"/>
            <a:ext cx="2645893" cy="2731245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8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B66D90-103D-05EC-EFE0-1DACD2779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322856"/>
              </p:ext>
            </p:extLst>
          </p:nvPr>
        </p:nvGraphicFramePr>
        <p:xfrm>
          <a:off x="3939035" y="1246784"/>
          <a:ext cx="8127999" cy="4517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389703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569336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70558677"/>
                    </a:ext>
                  </a:extLst>
                </a:gridCol>
              </a:tblGrid>
              <a:tr h="4632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/>
                        <a:t>Database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/>
                        <a:t>Key Data Entities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/>
                        <a:t>Data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118102"/>
                  </a:ext>
                </a:extLst>
              </a:tr>
              <a:tr h="4026652">
                <a:tc>
                  <a:txBody>
                    <a:bodyPr/>
                    <a:lstStyle/>
                    <a:p>
                      <a:r>
                        <a:rPr lang="en-US" sz="2000" dirty="0"/>
                        <a:t>A structured dataset stored in tabular format (CSV/Excel-based), organized for analytical processing.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City 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endParaRPr lang="en-US" sz="20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Date / Time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Solar radiation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Temperature, humidity, wind speed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Seasonal classification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is collected from environmental sources → cleaned and processed → stored in structured dataset → analyzed using Python → visualized through dashboards for insights.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14642"/>
                  </a:ext>
                </a:extLst>
              </a:tr>
            </a:tbl>
          </a:graphicData>
        </a:graphic>
      </p:graphicFrame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ADE2F5D5-B361-CE70-C2CC-7BD6D90A16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3365" y="2254216"/>
            <a:ext cx="2117035" cy="185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7002-E1F2-9969-5404-B80BD580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Programming Languages + Frameworks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8D24-7816-F29D-667D-FC6984434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Technologies Used </a:t>
            </a:r>
          </a:p>
          <a:p>
            <a:r>
              <a:rPr lang="en-US" dirty="0"/>
              <a:t>Python </a:t>
            </a:r>
          </a:p>
          <a:p>
            <a:r>
              <a:rPr lang="en-US" dirty="0"/>
              <a:t>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114300" indent="0">
              <a:buNone/>
            </a:pPr>
            <a:r>
              <a:rPr lang="en-US" b="1" dirty="0"/>
              <a:t>Supporting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visualization libraries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Statistical analysis techniques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 and preprocessing workflows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D628F-F162-E644-EE3A-531EAFFBDC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5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536F-D8E9-833F-ED82-A1078117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Live Application + Testing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C274A-A516-3DD1-78E6-AD6897968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 b="1" dirty="0"/>
              <a:t>Application Status</a:t>
            </a:r>
          </a:p>
          <a:p>
            <a:r>
              <a:rPr lang="en-US" dirty="0"/>
              <a:t>A working prototype dashboard is developed and used for data visualization and insights generation.</a:t>
            </a:r>
          </a:p>
          <a:p>
            <a:pPr marL="114300" indent="0">
              <a:buNone/>
            </a:pPr>
            <a:r>
              <a:rPr lang="en-US" b="1" dirty="0"/>
              <a:t>Testing Phases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Unit testing for data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testing for analysis workflow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testing for dashboard usability </a:t>
            </a:r>
          </a:p>
          <a:p>
            <a:pPr marL="114300" indent="0">
              <a:buNone/>
            </a:pPr>
            <a:r>
              <a:rPr lang="en-US" b="1" dirty="0"/>
              <a:t>Feedback Summary</a:t>
            </a:r>
          </a:p>
          <a:p>
            <a:pPr marL="114300" indent="0">
              <a:buNone/>
            </a:pPr>
            <a:r>
              <a:rPr lang="en-US" dirty="0"/>
              <a:t>Users highlighted: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visual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navigation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potential for decision-making support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3F104-09EE-EA2E-0142-EAC7A25A8C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8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5435-6EF8-B029-C626-57125CDF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Deliverables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FD4F0-30DA-FB0C-3E96-217B7237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520686"/>
            <a:ext cx="10515600" cy="4835663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US" sz="3600" b="1" dirty="0"/>
              <a:t>Project Deliverables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Interactive dashboard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Final analytical report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Cleaned and processed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Presentation slides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Documentation (technical + user guide) </a:t>
            </a:r>
          </a:p>
          <a:p>
            <a:pPr marL="114300" indent="0">
              <a:buNone/>
            </a:pPr>
            <a:r>
              <a:rPr lang="en-US" sz="3600" b="1" dirty="0"/>
              <a:t>Timeline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collection &amp; cleaning → Completed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Analysis &amp; modeling → Completed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development → Completed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review &amp; submission → Final stage </a:t>
            </a:r>
          </a:p>
          <a:p>
            <a:pPr marL="114300" indent="0">
              <a:buNone/>
            </a:pPr>
            <a:r>
              <a:rPr lang="en-US" sz="3600" b="1" dirty="0"/>
              <a:t>Final Output</a:t>
            </a:r>
          </a:p>
          <a:p>
            <a:r>
              <a:rPr lang="en-US" sz="3200" dirty="0"/>
              <a:t>A complete data analytics solution for solar energy insights in Egypt.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A2A45-E09D-905E-0D10-DFE22450FA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70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AEFB-380D-4E62-269D-30309558A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Team + Roles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537CB-9B14-DB12-F032-C91A48697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0870"/>
            <a:ext cx="10515600" cy="4865480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 b="1" dirty="0"/>
              <a:t>Team Members &amp; Roles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Collaboration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Team communication via structured updates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 distribution based on skills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Collaborative data analysis and dashboard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Iterative feedback and improvements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F70CB-F9C9-A74C-808A-08C63C0156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F0B633-2805-BC95-00A7-9745ECCF4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441281"/>
              </p:ext>
            </p:extLst>
          </p:nvPr>
        </p:nvGraphicFramePr>
        <p:xfrm>
          <a:off x="1276626" y="1870075"/>
          <a:ext cx="10077174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587">
                  <a:extLst>
                    <a:ext uri="{9D8B030D-6E8A-4147-A177-3AD203B41FA5}">
                      <a16:colId xmlns:a16="http://schemas.microsoft.com/office/drawing/2014/main" val="1365301154"/>
                    </a:ext>
                  </a:extLst>
                </a:gridCol>
                <a:gridCol w="5038587">
                  <a:extLst>
                    <a:ext uri="{9D8B030D-6E8A-4147-A177-3AD203B41FA5}">
                      <a16:colId xmlns:a16="http://schemas.microsoft.com/office/drawing/2014/main" val="1906489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55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Sara Mostafa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Project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75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Heba Shaaban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Data Sourcing + Data Scientist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94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Amr Magdy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Data Analyst + Data Engineer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08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Mohamed </a:t>
                      </a:r>
                      <a:r>
                        <a:rPr lang="en-US" sz="1800" dirty="0" err="1"/>
                        <a:t>Abdelwahab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Data Engineer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92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 err="1"/>
                        <a:t>Menatallah</a:t>
                      </a:r>
                      <a:r>
                        <a:rPr lang="en-US" sz="1800" dirty="0"/>
                        <a:t> Sherif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Data Scientist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342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Samar Maher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Data Engineer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311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00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9CE7D-E8C8-A85E-B00F-38AACD8DE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95738"/>
            <a:ext cx="10515600" cy="56606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Thank You for Your Time</a:t>
            </a:r>
          </a:p>
          <a:p>
            <a:r>
              <a:rPr lang="en-US" dirty="0"/>
              <a:t>We appreciate your attention and interest in our project.</a:t>
            </a:r>
          </a:p>
          <a:p>
            <a:pPr marL="114300" indent="0">
              <a:buNone/>
            </a:pPr>
            <a:r>
              <a:rPr lang="en-US" b="1" dirty="0"/>
              <a:t>Contact Information (Team Members)</a:t>
            </a:r>
          </a:p>
          <a:p>
            <a:endParaRPr lang="ar-EG" b="1" dirty="0"/>
          </a:p>
          <a:p>
            <a:endParaRPr lang="ar-EG" b="1" dirty="0"/>
          </a:p>
          <a:p>
            <a:endParaRPr lang="ar-EG" b="1" dirty="0"/>
          </a:p>
          <a:p>
            <a:endParaRPr lang="ar-EG" b="1" dirty="0"/>
          </a:p>
          <a:p>
            <a:endParaRPr lang="ar-EG" b="1" dirty="0"/>
          </a:p>
          <a:p>
            <a:pPr marL="114300" indent="0">
              <a:buNone/>
            </a:pPr>
            <a:r>
              <a:rPr lang="en-US" b="1" dirty="0"/>
              <a:t>Questions &amp; Feedback</a:t>
            </a:r>
          </a:p>
          <a:p>
            <a:r>
              <a:rPr lang="en-US" dirty="0"/>
              <a:t>We welcome your questions, suggestions, and feedback.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583FB-5517-2021-78F8-49DD7B7137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3F9D2F-57A6-93A1-E0E8-E495BEBAE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851030"/>
              </p:ext>
            </p:extLst>
          </p:nvPr>
        </p:nvGraphicFramePr>
        <p:xfrm>
          <a:off x="1106556" y="2347471"/>
          <a:ext cx="9978888" cy="2357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7919">
                  <a:extLst>
                    <a:ext uri="{9D8B030D-6E8A-4147-A177-3AD203B41FA5}">
                      <a16:colId xmlns:a16="http://schemas.microsoft.com/office/drawing/2014/main" val="2151818545"/>
                    </a:ext>
                  </a:extLst>
                </a:gridCol>
                <a:gridCol w="2834673">
                  <a:extLst>
                    <a:ext uri="{9D8B030D-6E8A-4147-A177-3AD203B41FA5}">
                      <a16:colId xmlns:a16="http://schemas.microsoft.com/office/drawing/2014/main" val="891138773"/>
                    </a:ext>
                  </a:extLst>
                </a:gridCol>
                <a:gridCol w="3326296">
                  <a:extLst>
                    <a:ext uri="{9D8B030D-6E8A-4147-A177-3AD203B41FA5}">
                      <a16:colId xmlns:a16="http://schemas.microsoft.com/office/drawing/2014/main" val="1987232903"/>
                    </a:ext>
                  </a:extLst>
                </a:gridCol>
              </a:tblGrid>
              <a:tr h="311912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84623"/>
                  </a:ext>
                </a:extLst>
              </a:tr>
              <a:tr h="311912">
                <a:tc>
                  <a:txBody>
                    <a:bodyPr/>
                    <a:lstStyle/>
                    <a:p>
                      <a:r>
                        <a:rPr lang="en-US" dirty="0"/>
                        <a:t>Sara Mostafa Hafez 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saramostafahafez95@gmail.com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01123232833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263472"/>
                  </a:ext>
                </a:extLst>
              </a:tr>
              <a:tr h="311912">
                <a:tc>
                  <a:txBody>
                    <a:bodyPr/>
                    <a:lstStyle/>
                    <a:p>
                      <a:r>
                        <a:rPr lang="en-US" dirty="0"/>
                        <a:t>Amr Magdy </a:t>
                      </a:r>
                      <a:r>
                        <a:rPr lang="en-US" dirty="0" err="1"/>
                        <a:t>Aboud</a:t>
                      </a:r>
                      <a:r>
                        <a:rPr lang="en-US" dirty="0"/>
                        <a:t> Abd </a:t>
                      </a:r>
                      <a:r>
                        <a:rPr lang="en-US" dirty="0" err="1"/>
                        <a:t>Elmaged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amr_ma@outlook.com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01093420165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215023"/>
                  </a:ext>
                </a:extLst>
              </a:tr>
              <a:tr h="311912">
                <a:tc>
                  <a:txBody>
                    <a:bodyPr/>
                    <a:lstStyle/>
                    <a:p>
                      <a:r>
                        <a:rPr lang="en-US" dirty="0"/>
                        <a:t>Heba Shaban </a:t>
                      </a:r>
                      <a:r>
                        <a:rPr lang="en-US" dirty="0" err="1"/>
                        <a:t>Shaban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hebaelesawy33@gmail.com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01099234147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42511"/>
                  </a:ext>
                </a:extLst>
              </a:tr>
              <a:tr h="311912">
                <a:tc>
                  <a:txBody>
                    <a:bodyPr/>
                    <a:lstStyle/>
                    <a:p>
                      <a:r>
                        <a:rPr lang="en-US" dirty="0"/>
                        <a:t>Samar Maher </a:t>
                      </a:r>
                      <a:r>
                        <a:rPr lang="en-US" dirty="0" err="1"/>
                        <a:t>Aldemerdash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Semsemasky@gmail.com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01067881482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130826"/>
                  </a:ext>
                </a:extLst>
              </a:tr>
              <a:tr h="3362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Mennah</a:t>
                      </a:r>
                      <a:r>
                        <a:rPr lang="en-US" dirty="0"/>
                        <a:t> Allah </a:t>
                      </a:r>
                      <a:r>
                        <a:rPr lang="en-US" dirty="0" err="1"/>
                        <a:t>Shreif</a:t>
                      </a:r>
                      <a:r>
                        <a:rPr lang="en-US" dirty="0"/>
                        <a:t> Galal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mennahshreif@gmail.com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01278805266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114237"/>
                  </a:ext>
                </a:extLst>
              </a:tr>
              <a:tr h="461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Mohamed Abdel Wahab Attia Abdel </a:t>
                      </a:r>
                      <a:r>
                        <a:rPr lang="en-US" dirty="0" err="1"/>
                        <a:t>Gayed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abdelwahab528@gmail.com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01066632663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967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395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11321</TotalTime>
  <Words>661</Words>
  <Application>Microsoft Office PowerPoint</Application>
  <PresentationFormat>Widescreen</PresentationFormat>
  <Paragraphs>167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Egypt’s Digital Sun</vt:lpstr>
      <vt:lpstr>Project Idea</vt:lpstr>
      <vt:lpstr>Project Wireframe</vt:lpstr>
      <vt:lpstr>PowerPoint Presentation</vt:lpstr>
      <vt:lpstr>PowerPoint Presentation</vt:lpstr>
      <vt:lpstr>Programming Languages + Frameworks</vt:lpstr>
      <vt:lpstr>Live Application + Testing</vt:lpstr>
      <vt:lpstr>Deliverables</vt:lpstr>
      <vt:lpstr>Project Team + Roles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Shereen Mostafa</cp:lastModifiedBy>
  <cp:revision>6</cp:revision>
  <dcterms:created xsi:type="dcterms:W3CDTF">2024-03-14T10:03:54Z</dcterms:created>
  <dcterms:modified xsi:type="dcterms:W3CDTF">2026-05-12T16:35:21Z</dcterms:modified>
</cp:coreProperties>
</file>